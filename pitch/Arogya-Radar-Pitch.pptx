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Fever-with-rash cases (Lanjigarh block)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6/13</c:v>
                  </c:pt>
                  <c:pt idx="1">
                    <c:v>6/14</c:v>
                  </c:pt>
                  <c:pt idx="2">
                    <c:v>6/15</c:v>
                  </c:pt>
                  <c:pt idx="3">
                    <c:v>6/16</c:v>
                  </c:pt>
                  <c:pt idx="4">
                    <c:v>6/17</c:v>
                  </c:pt>
                  <c:pt idx="5">
                    <c:v>6/18</c:v>
                  </c:pt>
                  <c:pt idx="6">
                    <c:v>6/19</c:v>
                  </c:pt>
                  <c:pt idx="7">
                    <c:v>6/20</c:v>
                  </c:pt>
                  <c:pt idx="8">
                    <c:v>6/21</c:v>
                  </c:pt>
                  <c:pt idx="9">
                    <c:v>6/22</c:v>
                  </c:pt>
                  <c:pt idx="10">
                    <c:v>6/23</c:v>
                  </c:pt>
                  <c:pt idx="11">
                    <c:v>6/24</c:v>
                  </c:pt>
                  <c:pt idx="12">
                    <c:v>6/25</c:v>
                  </c:pt>
                  <c:pt idx="13">
                    <c:v>6/26</c:v>
                  </c:pt>
                  <c:pt idx="14">
                    <c:v>6/27</c:v>
                  </c:pt>
                  <c:pt idx="15">
                    <c:v>6/28</c:v>
                  </c:pt>
                  <c:pt idx="16">
                    <c:v>6/29</c:v>
                  </c:pt>
                  <c:pt idx="17">
                    <c:v>6/30</c:v>
                  </c:pt>
                  <c:pt idx="18">
                    <c:v>7/1</c:v>
                  </c:pt>
                  <c:pt idx="19">
                    <c:v>7/2</c:v>
                  </c:pt>
                  <c:pt idx="20">
                    <c:v>7/3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4</c:v>
                </c:pt>
                <c:pt idx="4">
                  <c:v>2</c:v>
                </c:pt>
                <c:pt idx="5">
                  <c:v>4</c:v>
                </c:pt>
                <c:pt idx="6">
                  <c:v>3</c:v>
                </c:pt>
                <c:pt idx="7">
                  <c:v>2</c:v>
                </c:pt>
                <c:pt idx="8">
                  <c:v>5</c:v>
                </c:pt>
                <c:pt idx="9">
                  <c:v>6</c:v>
                </c:pt>
                <c:pt idx="10">
                  <c:v>2</c:v>
                </c:pt>
                <c:pt idx="11">
                  <c:v>2</c:v>
                </c:pt>
                <c:pt idx="12">
                  <c:v>8</c:v>
                </c:pt>
                <c:pt idx="13">
                  <c:v>7</c:v>
                </c:pt>
                <c:pt idx="14">
                  <c:v>5</c:v>
                </c:pt>
                <c:pt idx="15">
                  <c:v>12</c:v>
                </c:pt>
                <c:pt idx="16">
                  <c:v>19</c:v>
                </c:pt>
                <c:pt idx="17">
                  <c:v>28</c:v>
                </c:pt>
                <c:pt idx="18">
                  <c:v>38</c:v>
                </c:pt>
                <c:pt idx="19">
                  <c:v>43</c:v>
                </c:pt>
                <c:pt idx="20">
                  <c:v>41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Expected baseline</c:v>
                </c:pt>
              </c:strCache>
            </c:strRef>
          </c:tx>
          <c:spPr>
            <a:solidFill>
              <a:srgbClr val="9AA9B2"/>
            </a:solidFill>
            <a:ln w="25400" cap="flat">
              <a:solidFill>
                <a:srgbClr val="9AA9B2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9B2"/>
              </a:solidFill>
              <a:ln w="9525" cap="flat">
                <a:solidFill>
                  <a:srgbClr val="9AA9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6/13</c:v>
                  </c:pt>
                  <c:pt idx="1">
                    <c:v>6/14</c:v>
                  </c:pt>
                  <c:pt idx="2">
                    <c:v>6/15</c:v>
                  </c:pt>
                  <c:pt idx="3">
                    <c:v>6/16</c:v>
                  </c:pt>
                  <c:pt idx="4">
                    <c:v>6/17</c:v>
                  </c:pt>
                  <c:pt idx="5">
                    <c:v>6/18</c:v>
                  </c:pt>
                  <c:pt idx="6">
                    <c:v>6/19</c:v>
                  </c:pt>
                  <c:pt idx="7">
                    <c:v>6/20</c:v>
                  </c:pt>
                  <c:pt idx="8">
                    <c:v>6/21</c:v>
                  </c:pt>
                  <c:pt idx="9">
                    <c:v>6/22</c:v>
                  </c:pt>
                  <c:pt idx="10">
                    <c:v>6/23</c:v>
                  </c:pt>
                  <c:pt idx="11">
                    <c:v>6/24</c:v>
                  </c:pt>
                  <c:pt idx="12">
                    <c:v>6/25</c:v>
                  </c:pt>
                  <c:pt idx="13">
                    <c:v>6/26</c:v>
                  </c:pt>
                  <c:pt idx="14">
                    <c:v>6/27</c:v>
                  </c:pt>
                  <c:pt idx="15">
                    <c:v>6/28</c:v>
                  </c:pt>
                  <c:pt idx="16">
                    <c:v>6/29</c:v>
                  </c:pt>
                  <c:pt idx="17">
                    <c:v>6/30</c:v>
                  </c:pt>
                  <c:pt idx="18">
                    <c:v>7/1</c:v>
                  </c:pt>
                  <c:pt idx="19">
                    <c:v>7/2</c:v>
                  </c:pt>
                  <c:pt idx="20">
                    <c:v>7/3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6232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line: 'Arogya Radar turns the paper daily registers that every PHC already keeps into a live outbreak radar and medicine-supply brain for the whole district.' Name the district — Kalahandi, Odisha — one of India's most health-challenged districts.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consequences, all real in a district like Kalahandi. The through-line: the information exists on paper at the facility, but it never reaches the person who could act while it still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pivot. Every other team will build an inventory dashboard fed by data someone types in. We noticed the footfall data is a disease-surveillance goldmine — and we read it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moat — intake that works with the paper-and-voice reality of a PHC, not a data-entry form nobody fills in. Right: everything the district officer needs, computed automatically from those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answers the judging bar 'AI must do real work, not decorative.' Gemini does the two things only a large model can. Detection is deliberately transparent statistics, because health departments must be able to audit an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headline. Real numbers from our simulation. The red line is fever-with-rash in Lanjigarh block; the grey dashed line is what the radar expected. It flagged around 28 June, when counts were still small — days before the late-June/early-July surge a human would have noticed.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rupee number is the most legible metric for a non-technical MP office. And the flagship transfer is the whole thesis in one line: because the radar and the stock engine run on the same data, the system routes expiring test kits straight to the outbreak — money saved and lives protected in one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parse of the bundled sample register — Gemini read the handwriting, kept fever-with-rash separate from plain fever, mapped medicine names to catalogue IDs, and pulled the free-text referral note. Judges can reproduce this in two clicks on the live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will wonder about the data. Get ahead of it: real facilities, real drugs and prices, real calibration — and a synthetic daily layer that stands in for the exact data our product is the first to capture. The gap is the reason the product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Deployability is where health wins as a track — a pilot in a real district is concrete. Emphasise: no new hardware, maps to IDSP, live URL, scales on the same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Inclusivity is scored. Ours is built in, not bolted on: voice in three languages, a photo of paper, low bandwidth, and a genuine reduction in the last-mile worker's burden.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impact, not features. A pilot delivers earlier outbreak response, less medicine waste, and a district officer who can finally see their whole district every morning. End with the one-line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09560" y="1691640"/>
            <a:ext cx="3474720" cy="3474720"/>
          </a:xfrm>
          <a:prstGeom prst="ellipse">
            <a:avLst/>
          </a:prstGeom>
          <a:ln w="22860">
            <a:solidFill>
              <a:srgbClr val="FF9933">
                <a:alpha val="9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2286000"/>
            <a:ext cx="2286000" cy="2286000"/>
          </a:xfrm>
          <a:prstGeom prst="ellipse">
            <a:avLst/>
          </a:prstGeom>
          <a:ln w="22860">
            <a:solidFill>
              <a:srgbClr val="FFFFFF">
                <a:alpha val="9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79992" y="2862072"/>
            <a:ext cx="1133856" cy="1133856"/>
          </a:xfrm>
          <a:prstGeom prst="ellipse">
            <a:avLst/>
          </a:prstGeom>
          <a:ln w="22860">
            <a:solidFill>
              <a:srgbClr val="17A34A">
                <a:alpha val="9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35824" y="3429000"/>
            <a:ext cx="1042416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3429000"/>
            <a:ext cx="304038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082278" y="2473452"/>
            <a:ext cx="304038" cy="955548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86316" y="2473452"/>
            <a:ext cx="347472" cy="1911096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733788" y="2907792"/>
            <a:ext cx="304038" cy="1476756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37826" y="2907792"/>
            <a:ext cx="260604" cy="521208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98430" y="3429000"/>
            <a:ext cx="1259586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 —  TRACK 3: SMART HEALTH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828800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Arogya Radar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paper registers of every health centre into a district-wide outbreak radar.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94360" y="4892040"/>
            <a:ext cx="7315200" cy="0"/>
          </a:xfrm>
          <a:prstGeom prst="line">
            <a:avLst/>
          </a:prstGeom>
          <a:noFill/>
          <a:ln w="12700">
            <a:solidFill>
              <a:srgbClr val="2440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Kalahandi District, Odisha</a:t>
            </a:r>
            <a:pPr indent="0" marL="0">
              <a:buNone/>
            </a:pPr>
            <a:r>
              <a:rPr lang="en-US" sz="14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 frontline health command centre powered by Gemini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3949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 Sutaria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574243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Cloud:  </a:t>
            </a:r>
            <a:pPr indent="0" marL="0">
              <a:buNone/>
            </a:pPr>
            <a:r>
              <a:rPr lang="en-US" sz="13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arogya-radar-767054106508.asia-south1.run.app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Rural health runs on paper — and paper hides emergencies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Outbreaks surface too late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surveillance (IDSP) aggregates weekly. A dengue cluster building across a block stays invisible for days — exactly the days that matter.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3024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48784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4748784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48784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 run out here, expire there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48784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centre stocks out of a drug while a neighbour lets the same drug expire on the shelf. Nobody sees both sides in time to act.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71688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37448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8537448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537448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burden falls on the last mile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37448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digital form lands on a PHC pharmacist who is also seeing patients. So the data arrives late, partial, or not at all.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5C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828800"/>
            <a:ext cx="3474720" cy="3474720"/>
          </a:xfrm>
          <a:prstGeom prst="ellipse">
            <a:avLst/>
          </a:prstGeom>
          <a:ln w="22860">
            <a:solidFill>
              <a:srgbClr val="FF9933">
                <a:alpha val="9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2423160"/>
            <a:ext cx="2286000" cy="2286000"/>
          </a:xfrm>
          <a:prstGeom prst="ellipse">
            <a:avLst/>
          </a:prstGeom>
          <a:ln w="22860">
            <a:solidFill>
              <a:srgbClr val="FFFFFF">
                <a:alpha val="9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82912" y="2999232"/>
            <a:ext cx="1133856" cy="1133856"/>
          </a:xfrm>
          <a:prstGeom prst="ellipse">
            <a:avLst/>
          </a:prstGeom>
          <a:ln w="22860">
            <a:solidFill>
              <a:srgbClr val="17A34A">
                <a:alpha val="9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38744" y="3566160"/>
            <a:ext cx="1042416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81160" y="3566160"/>
            <a:ext cx="304038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585198" y="2610612"/>
            <a:ext cx="304038" cy="955548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89236" y="2610612"/>
            <a:ext cx="347472" cy="1911096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36708" y="3044952"/>
            <a:ext cx="304038" cy="1476756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40746" y="3044952"/>
            <a:ext cx="260604" cy="521208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01350" y="3566160"/>
            <a:ext cx="1259586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1828800"/>
            <a:ext cx="7955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already contains next week's outbreak. Nobody is reading it.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594360" y="397764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three centres in one block each log a few extra fever-with-rash cases on the same day, that is a dengue signal — days before it becomes an official report. The data is already flowing in. We are the first to read it, every day, automatically.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app, two sides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088636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SIDE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357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the day in 30 seconds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3571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note in Odia, Hindi or English, or a photo of the paper register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parses it into a structured daily record — footfall, symptoms, stock, expiries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drafts; staff confirm. Uncertain fields are flagged for a human check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792724" y="3566160"/>
            <a:ext cx="603504" cy="60350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9" name="Text 7"/>
          <p:cNvSpPr/>
          <p:nvPr/>
        </p:nvSpPr>
        <p:spPr>
          <a:xfrm>
            <a:off x="5792724" y="35295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05956" y="1783080"/>
            <a:ext cx="5088636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71716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SIDE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71716" y="2331720"/>
            <a:ext cx="4357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command centre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71716" y="2880360"/>
            <a:ext cx="435711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radar — early warning across the district</a:t>
            </a:r>
            <a:endParaRPr lang="en-US" sz="135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compliance — silent centres flagged as blind spots</a:t>
            </a:r>
            <a:endParaRPr lang="en-US" sz="135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forecasts — who runs out of what, and when</a:t>
            </a:r>
            <a:endParaRPr lang="en-US" sz="135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in rupees + transfers that fix both at once</a:t>
            </a:r>
            <a:endParaRPr lang="en-US" sz="1350" dirty="0"/>
          </a:p>
          <a:p>
            <a:pPr marL="342900" indent="-3429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one-click weekly brief in plain language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where only AI works — auditable everywhere else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088636" cy="3108960"/>
          </a:xfrm>
          <a:prstGeom prst="roundRect">
            <a:avLst>
              <a:gd name="adj" fmla="val 2353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DOES PERCEPTION &amp; LANGUAGE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3571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messy handwriting off a register photo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code-switched Odia / Hindi / English voice notes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weekly brief in three languages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05956" y="1783080"/>
            <a:ext cx="5088636" cy="3108960"/>
          </a:xfrm>
          <a:prstGeom prst="roundRect">
            <a:avLst>
              <a:gd name="adj" fmla="val 2353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71716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CLASSICAL, AUDITABLE STATISTICS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71716" y="2468880"/>
            <a:ext cx="43571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EARS-style aberration detection (CDC / WHO family)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baseline + block-level corroboration — no black box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officer sees exactly why every alert fired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5120640"/>
            <a:ext cx="11000232" cy="685800"/>
          </a:xfrm>
          <a:prstGeom prst="roundRect">
            <a:avLst>
              <a:gd name="adj" fmla="val 8000"/>
            </a:avLst>
          </a:prstGeom>
          <a:solidFill>
            <a:srgbClr val="0E243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512064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principle:  </a:t>
            </a:r>
            <a:pPr algn="ctr" indent="0" marL="0">
              <a:buNone/>
            </a:pPr>
            <a:r>
              <a:rPr lang="en-US" sz="140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sits only where nothing else can do the job. Everything between is honest arithmetic a judge — or a district pharmacist — can check.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OUTBREAK RADAR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caught Lanjigarh's dengue signal days before the surge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828800"/>
          <a:ext cx="74066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87452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200253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vs ~3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8595360" y="249631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today versus expected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321040" y="310896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0" y="323697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16.6σ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8595360" y="373075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centre, above its baseline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321040" y="434340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95360" y="447141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3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8595360" y="496519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centres flagging together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56235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~28 June — before the case count was obvious to anyone on the ground.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SIGNAL TO SUPPLY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reports turn into money saved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4114800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4688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₹3.14 lakh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60120" y="34290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medicines will expire unused across the district in the next 120 days — priced at real procurement rates.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166360" y="1783080"/>
            <a:ext cx="6428232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532120" y="21031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FLAGSHIP RECOMMENDATION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32120" y="2514600"/>
            <a:ext cx="56967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dengue NS1 test kits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sitting near expiry at SDH Dharamgarh — in the west — are routed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km to the outbreak at CHC Lanjigarh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east.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532120" y="3977640"/>
            <a:ext cx="5696712" cy="0"/>
          </a:xfrm>
          <a:prstGeom prst="line">
            <a:avLst/>
          </a:prstGeom>
          <a:noFill/>
          <a:ln w="12700">
            <a:solidFill>
              <a:srgbClr val="DCEA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4160520"/>
            <a:ext cx="56967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move, two wins: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saves ₹44,280 of stock from the bin and arms the outbreak response at the same time. Expiry prevention and disease response become the same decision.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WORKING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scribbled register to structured data in seconds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4937760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pic>
        <p:nvPicPr>
          <p:cNvPr id="5" name="Image 0" descr="D:/Cloud_Community_Hackathon/public/samples/register-samp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011680"/>
            <a:ext cx="4389120" cy="3520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06440" y="356616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3529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537960" y="1783080"/>
            <a:ext cx="5056632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03720" y="20574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PARSES IT LIVE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03720" y="2468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372600" y="246888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03720" y="29535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372600" y="295351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90372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with rash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9372600" y="3438144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(kept separate)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903720" y="3922776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Diarrhoea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372600" y="3922776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903720" y="44074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Paracetamol 500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72600" y="4407408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tab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903720" y="4892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 sachet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9372600" y="489204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903720" y="5303520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 with Gemini — referral note captured too.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PROVENANCE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real public data — and honest about the rest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28800"/>
          <a:ext cx="11000232" cy="914400"/>
        </p:xfrm>
        <a:graphic>
          <a:graphicData uri="http://schemas.openxmlformats.org/drawingml/2006/table">
            <a:tbl>
              <a:tblPr/>
              <a:tblGrid>
                <a:gridCol w="5500116"/>
                <a:gridCol w="5500116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(and why)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Kalahandi's real block &amp; facility network (DHH, SDH, block CHCs)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facility-level activity — because it does not exist publicly. Creating it IS the product.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Medicines &amp; prices: NLEM 2022 + Jan Aushadhi rates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seeded dengue outbreak &amp; expiry scenarios, for a reproducible demo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Syndrome categories aligned to IDSP reporting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PHC names and map coordinates (approximate)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Magnitudes calibrated on HMIS monthly &amp; IDSP weekly data (data.gov.in)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is labelled synthetic in-app — nothing is passed off as 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DEPLOYABILITY &amp;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slot into the system that already exists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28600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12140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 Run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 and deployed today — judges click a URL, not a video. Firebase/Firestore is the next step for durable storage.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43116" y="214884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1" name="Shape 9"/>
          <p:cNvSpPr/>
          <p:nvPr/>
        </p:nvSpPr>
        <p:spPr>
          <a:xfrm>
            <a:off x="6780276" y="228600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12" name="Text 10"/>
          <p:cNvSpPr/>
          <p:nvPr/>
        </p:nvSpPr>
        <p:spPr>
          <a:xfrm>
            <a:off x="7283196" y="212140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today's reality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643116" y="269748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hardware, no new habits: a voice note or a photo of the register the staff already keep.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397764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976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560" y="443484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427024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the government's schema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14400" y="484632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map onto IDSP syndrome categories, so this plugs into the workflow the state already runs — it removes the paper and the week of lag.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7764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43116" y="42976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21" name="Shape 19"/>
          <p:cNvSpPr/>
          <p:nvPr/>
        </p:nvSpPr>
        <p:spPr>
          <a:xfrm>
            <a:off x="6780276" y="443484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22" name="Text 20"/>
          <p:cNvSpPr/>
          <p:nvPr/>
        </p:nvSpPr>
        <p:spPr>
          <a:xfrm>
            <a:off x="7283196" y="427024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today, state tomorrow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643116" y="484632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scales from 36 facilities to a whole state; cross-district analytics land in BigQuery.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5943600"/>
            <a:ext cx="11000232" cy="502920"/>
          </a:xfrm>
          <a:prstGeom prst="roundRect">
            <a:avLst>
              <a:gd name="adj" fmla="val 10909"/>
            </a:avLst>
          </a:prstGeom>
          <a:solidFill>
            <a:srgbClr val="0E243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943600"/>
            <a:ext cx="10360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Google Cloud:  </a:t>
            </a:r>
            <a:pPr algn="ctr" indent="0" marL="0">
              <a:buNone/>
            </a:pPr>
            <a:r>
              <a:rPr lang="en-US" sz="130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(Pro for intake, Flash for briefs) · Cloud Run · roadmap: Firestore, BigQuery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INCLUSIVITY &amp; 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Designed for who actually uses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ଓଡ଼ିଆ · हिन्दी · 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languages, by voice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speaking in Odia, Hindi or English — the way a health worker actually talks, code-switching and all.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4428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98748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11" name="Text 9"/>
          <p:cNvSpPr/>
          <p:nvPr/>
        </p:nvSpPr>
        <p:spPr>
          <a:xfrm>
            <a:off x="3698748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Paper-first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98748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a photo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98748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smartphone form to learn. Snap the register page that already gets filled in by hand.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54496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28816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16" name="Text 14"/>
          <p:cNvSpPr/>
          <p:nvPr/>
        </p:nvSpPr>
        <p:spPr>
          <a:xfrm>
            <a:off x="6528816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Low-bandwidth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28816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weak networks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28816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voice note or one photo — not a heavy app — reaches the district even on a rural connection.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84564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58884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21" name="Text 19"/>
          <p:cNvSpPr/>
          <p:nvPr/>
        </p:nvSpPr>
        <p:spPr>
          <a:xfrm>
            <a:off x="9358884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work, not more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58884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Respects the last mile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358884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overlooked PHC pharmacist gets 30 seconds of speaking, not another form to type.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2011680"/>
            <a:ext cx="3474720" cy="3474720"/>
          </a:xfrm>
          <a:prstGeom prst="ellipse">
            <a:avLst/>
          </a:prstGeom>
          <a:ln w="22860">
            <a:solidFill>
              <a:srgbClr val="FF9933">
                <a:alpha val="9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98280" y="2606040"/>
            <a:ext cx="2286000" cy="2286000"/>
          </a:xfrm>
          <a:prstGeom prst="ellipse">
            <a:avLst/>
          </a:prstGeom>
          <a:ln w="22860">
            <a:solidFill>
              <a:srgbClr val="FFFFFF">
                <a:alpha val="9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74352" y="3182112"/>
            <a:ext cx="1133856" cy="1133856"/>
          </a:xfrm>
          <a:prstGeom prst="ellipse">
            <a:avLst/>
          </a:prstGeom>
          <a:ln w="22860">
            <a:solidFill>
              <a:srgbClr val="17A34A">
                <a:alpha val="9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30184" y="3749040"/>
            <a:ext cx="1042416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72600" y="3749040"/>
            <a:ext cx="304038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76638" y="2793492"/>
            <a:ext cx="304038" cy="955548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80676" y="2793492"/>
            <a:ext cx="347472" cy="1911096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328148" y="3227832"/>
            <a:ext cx="304038" cy="1476756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32186" y="3227832"/>
            <a:ext cx="260604" cy="521208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92790" y="3749040"/>
            <a:ext cx="1259586" cy="0"/>
          </a:xfrm>
          <a:prstGeom prst="line">
            <a:avLst/>
          </a:prstGeom>
          <a:noFill/>
          <a:ln w="28575">
            <a:solidFill>
              <a:srgbClr val="5EEA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PILOT IN KALAHANDI DELIVERS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182880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1783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Earlier response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05840" y="21671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Outbreaks caught days sooner, while the case count is still small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288036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834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5840" y="321868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 redistributed before they expire — lakhs saved each quarter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94360" y="393192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886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district in view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05840" y="427024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officer sees every centre each morning, in plain language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" y="5120640"/>
            <a:ext cx="7498080" cy="0"/>
          </a:xfrm>
          <a:prstGeom prst="line">
            <a:avLst/>
          </a:prstGeom>
          <a:noFill/>
          <a:ln w="12700">
            <a:solidFill>
              <a:srgbClr val="2440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5230368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 </a:t>
            </a:r>
            <a:pPr indent="0" marL="0">
              <a:buNone/>
            </a:pPr>
            <a:r>
              <a:rPr lang="en-US" sz="125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· WhatsApp intake · BigQuery cross-district · IDSP / e-Aushadhi export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4360" y="55961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 </a:t>
            </a:r>
            <a:pPr indent="0" marL="0">
              <a:buNone/>
            </a:pPr>
            <a:r>
              <a:rPr lang="en-US" sz="12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arogya-radar-767054106508.asia-south1.run.app</a:t>
            </a:r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Repo:  </a:t>
            </a:r>
            <a:pPr indent="0" marL="0">
              <a:buNone/>
            </a:pPr>
            <a:r>
              <a:rPr lang="en-US" sz="12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github.com/PureGenius369/arogya-radar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598017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 Sutaria · mannsutaria2605@gmail.com     </a:t>
            </a:r>
            <a:pPr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 — the district's registers, finally read.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Arogya Radar — Kalahandi District Health Command Centre</dc:title>
  <dc:subject>PptxGenJS Presentation</dc:subject>
  <dc:creator>Mann Sutaria</dc:creator>
  <cp:lastModifiedBy>Mann Sutaria</cp:lastModifiedBy>
  <cp:revision>1</cp:revision>
  <dcterms:created xsi:type="dcterms:W3CDTF">2026-07-05T06:46:30Z</dcterms:created>
  <dcterms:modified xsi:type="dcterms:W3CDTF">2026-07-05T06:46:30Z</dcterms:modified>
</cp:coreProperties>
</file>