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Fever-with-rash cases (Lanjigarh block)</c:v>
                </c:pt>
              </c:strCache>
            </c:strRef>
          </c:tx>
          <c:spPr>
            <a:solidFill>
              <a:srgbClr val="DC2626"/>
            </a:solidFill>
            <a:ln w="25400" cap="flat">
              <a:solidFill>
                <a:srgbClr val="DC2626"/>
              </a:solidFill>
              <a:prstDash val="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6/13</c:v>
                  </c:pt>
                  <c:pt idx="1">
                    <c:v>6/14</c:v>
                  </c:pt>
                  <c:pt idx="2">
                    <c:v>6/15</c:v>
                  </c:pt>
                  <c:pt idx="3">
                    <c:v>6/16</c:v>
                  </c:pt>
                  <c:pt idx="4">
                    <c:v>6/17</c:v>
                  </c:pt>
                  <c:pt idx="5">
                    <c:v>6/18</c:v>
                  </c:pt>
                  <c:pt idx="6">
                    <c:v>6/19</c:v>
                  </c:pt>
                  <c:pt idx="7">
                    <c:v>6/20</c:v>
                  </c:pt>
                  <c:pt idx="8">
                    <c:v>6/21</c:v>
                  </c:pt>
                  <c:pt idx="9">
                    <c:v>6/22</c:v>
                  </c:pt>
                  <c:pt idx="10">
                    <c:v>6/23</c:v>
                  </c:pt>
                  <c:pt idx="11">
                    <c:v>6/24</c:v>
                  </c:pt>
                  <c:pt idx="12">
                    <c:v>6/25</c:v>
                  </c:pt>
                  <c:pt idx="13">
                    <c:v>6/26</c:v>
                  </c:pt>
                  <c:pt idx="14">
                    <c:v>6/27</c:v>
                  </c:pt>
                  <c:pt idx="15">
                    <c:v>6/28</c:v>
                  </c:pt>
                  <c:pt idx="16">
                    <c:v>6/29</c:v>
                  </c:pt>
                  <c:pt idx="17">
                    <c:v>6/30</c:v>
                  </c:pt>
                  <c:pt idx="18">
                    <c:v>7/1</c:v>
                  </c:pt>
                  <c:pt idx="19">
                    <c:v>7/2</c:v>
                  </c:pt>
                  <c:pt idx="20">
                    <c:v>7/3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</c:v>
                </c:pt>
                <c:pt idx="1">
                  <c:v>2</c:v>
                </c:pt>
                <c:pt idx="2">
                  <c:v>2</c:v>
                </c:pt>
                <c:pt idx="3">
                  <c:v>4</c:v>
                </c:pt>
                <c:pt idx="4">
                  <c:v>2</c:v>
                </c:pt>
                <c:pt idx="5">
                  <c:v>4</c:v>
                </c:pt>
                <c:pt idx="6">
                  <c:v>3</c:v>
                </c:pt>
                <c:pt idx="7">
                  <c:v>2</c:v>
                </c:pt>
                <c:pt idx="8">
                  <c:v>5</c:v>
                </c:pt>
                <c:pt idx="9">
                  <c:v>6</c:v>
                </c:pt>
                <c:pt idx="10">
                  <c:v>2</c:v>
                </c:pt>
                <c:pt idx="11">
                  <c:v>2</c:v>
                </c:pt>
                <c:pt idx="12">
                  <c:v>8</c:v>
                </c:pt>
                <c:pt idx="13">
                  <c:v>7</c:v>
                </c:pt>
                <c:pt idx="14">
                  <c:v>5</c:v>
                </c:pt>
                <c:pt idx="15">
                  <c:v>12</c:v>
                </c:pt>
                <c:pt idx="16">
                  <c:v>19</c:v>
                </c:pt>
                <c:pt idx="17">
                  <c:v>28</c:v>
                </c:pt>
                <c:pt idx="18">
                  <c:v>38</c:v>
                </c:pt>
                <c:pt idx="19">
                  <c:v>43</c:v>
                </c:pt>
                <c:pt idx="20">
                  <c:v>41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Expected baseline</c:v>
                </c:pt>
              </c:strCache>
            </c:strRef>
          </c:tx>
          <c:spPr>
            <a:solidFill>
              <a:srgbClr val="9AA9B2"/>
            </a:solidFill>
            <a:ln w="25400" cap="flat">
              <a:solidFill>
                <a:srgbClr val="9AA9B2"/>
              </a:solidFill>
              <a:prstDash val="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AA9B2"/>
              </a:solidFill>
              <a:ln w="9525" cap="flat">
                <a:solidFill>
                  <a:srgbClr val="9AA9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6/13</c:v>
                  </c:pt>
                  <c:pt idx="1">
                    <c:v>6/14</c:v>
                  </c:pt>
                  <c:pt idx="2">
                    <c:v>6/15</c:v>
                  </c:pt>
                  <c:pt idx="3">
                    <c:v>6/16</c:v>
                  </c:pt>
                  <c:pt idx="4">
                    <c:v>6/17</c:v>
                  </c:pt>
                  <c:pt idx="5">
                    <c:v>6/18</c:v>
                  </c:pt>
                  <c:pt idx="6">
                    <c:v>6/19</c:v>
                  </c:pt>
                  <c:pt idx="7">
                    <c:v>6/20</c:v>
                  </c:pt>
                  <c:pt idx="8">
                    <c:v>6/21</c:v>
                  </c:pt>
                  <c:pt idx="9">
                    <c:v>6/22</c:v>
                  </c:pt>
                  <c:pt idx="10">
                    <c:v>6/23</c:v>
                  </c:pt>
                  <c:pt idx="11">
                    <c:v>6/24</c:v>
                  </c:pt>
                  <c:pt idx="12">
                    <c:v>6/25</c:v>
                  </c:pt>
                  <c:pt idx="13">
                    <c:v>6/26</c:v>
                  </c:pt>
                  <c:pt idx="14">
                    <c:v>6/27</c:v>
                  </c:pt>
                  <c:pt idx="15">
                    <c:v>6/28</c:v>
                  </c:pt>
                  <c:pt idx="16">
                    <c:v>6/29</c:v>
                  </c:pt>
                  <c:pt idx="17">
                    <c:v>6/30</c:v>
                  </c:pt>
                  <c:pt idx="18">
                    <c:v>7/1</c:v>
                  </c:pt>
                  <c:pt idx="19">
                    <c:v>7/2</c:v>
                  </c:pt>
                  <c:pt idx="20">
                    <c:v>7/3</c:v>
                  </c:pt>
                </c:lvl>
              </c:multiLvlStrCache>
            </c:multiLvl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3</c:v>
                </c:pt>
                <c:pt idx="18">
                  <c:v>3</c:v>
                </c:pt>
                <c:pt idx="19">
                  <c:v>3</c:v>
                </c:pt>
                <c:pt idx="20">
                  <c:v>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6232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here. One line: 'Arogya Radar turns the paper daily registers that every PHC already keeps into a live outbreak radar and medicine-supply brain for the whole district.' Name the district — Kalahandi, Odisha — one of India's most health-challenged districts.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consequences, all real in a district like Kalahandi. The through-line: the information exists on paper at the facility, but it never reaches the person who could act while it still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pivot. Every other team will build an inventory dashboard fed by data someone types in. We noticed the footfall data is a disease-surveillance goldmine — and we read it in real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moat — intake that works with the paper-and-voice reality of a PHC, not a data-entry form nobody fills in. Right: everything the district officer needs, computed automatically from those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directly answers the judging bar 'AI must do real work, not decorative.' Gemini does the two things only a large model can. Detection is deliberately transparent statistics, because health departments must be able to audit an alert.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headline. Real numbers from our simulation. The red line is fever-with-rash in Lanjigarh block; the grey dashed line is what the radar expected. It flagged around 28 June, when counts were still small — days before the late-June/early-July surge a human would have noticed.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rupee number is the most legible metric for a non-technical MP office. And the flagship transfer is the whole thesis in one line: because the radar and the stock engine run on the same data, the system routes expiring test kits straight to the outbreak — money saved and lives protected in one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real parse of the bundled sample register — Gemini read the handwriting, kept fever-with-rash separate from plain fever, mapped medicine names to catalogue IDs, and pulled the free-text referral note. Judges can reproduce this in two clicks on the live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 will wonder about the data. Get ahead of it: real facilities, real drugs and prices, real calibration — and a synthetic daily layer that stands in for the exact data our product is the first to capture. The gap is the reason the product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Deployability is where health wins as a track — a pilot in a real district is concrete. Emphasise: no new hardware, maps to IDSP, live URL, scales on the same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Inclusivity is scored. Ours is built in, not bolted on: voice in three languages, a photo of paper, low bandwidth, and a genuine reduction in the last-mile worker's burden.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impact, not features. A pilot delivers earlier outbreak response, less medicine waste, and a district officer who can finally see their whole district every morning. End with the one-line promise.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09560" y="1691640"/>
            <a:ext cx="3474720" cy="3474720"/>
          </a:xfrm>
          <a:prstGeom prst="ellipse">
            <a:avLst/>
          </a:prstGeom>
          <a:ln w="15875">
            <a:solidFill>
              <a:srgbClr val="5EEAD4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2194560"/>
            <a:ext cx="2468880" cy="2468880"/>
          </a:xfrm>
          <a:prstGeom prst="ellipse">
            <a:avLst/>
          </a:prstGeom>
          <a:ln w="15875">
            <a:solidFill>
              <a:srgbClr val="5EEAD4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0" y="2651760"/>
            <a:ext cx="1554480" cy="1554480"/>
          </a:xfrm>
          <a:prstGeom prst="ellipse">
            <a:avLst/>
          </a:prstGeom>
          <a:ln w="15875">
            <a:solidFill>
              <a:srgbClr val="5EEAD4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62872" y="3044952"/>
            <a:ext cx="768096" cy="768096"/>
          </a:xfrm>
          <a:prstGeom prst="ellipse">
            <a:avLst/>
          </a:prstGeom>
          <a:ln w="15875">
            <a:solidFill>
              <a:srgbClr val="5EEAD4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64624" y="3346704"/>
            <a:ext cx="164592" cy="164592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7" name="Shape 5"/>
          <p:cNvSpPr/>
          <p:nvPr/>
        </p:nvSpPr>
        <p:spPr>
          <a:xfrm>
            <a:off x="10488168" y="2770632"/>
            <a:ext cx="237744" cy="23774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4173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 · CODE FOR COMMUNITIES  —  TRACK 3: SMART HEALTH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8046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Arogya Radar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94360" y="297180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paper registers of every health centre into a district-wide outbreak radar.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94360" y="4892040"/>
            <a:ext cx="7315200" cy="0"/>
          </a:xfrm>
          <a:prstGeom prst="line">
            <a:avLst/>
          </a:prstGeom>
          <a:noFill/>
          <a:ln w="12700">
            <a:solidFill>
              <a:srgbClr val="2440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Kalahandi District, Odisha</a:t>
            </a:r>
            <a:pPr indent="0" marL="0">
              <a:buNone/>
            </a:pPr>
            <a:r>
              <a:rPr lang="en-US" sz="1400" dirty="0">
                <a:solidFill>
                  <a:srgbClr val="9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A frontline health command centre powered by Gemini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5394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 Sutaria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57424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Google Cloud:  </a:t>
            </a:r>
            <a:pPr indent="0" marL="0">
              <a:buNone/>
            </a:pPr>
            <a:r>
              <a:rPr lang="en-US" sz="13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arogya-radar-767054106508.asia-south1.run.app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Rural health runs on paper — and paper hides emergencies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422904" cy="3931920"/>
          </a:xfrm>
          <a:prstGeom prst="roundRect">
            <a:avLst>
              <a:gd name="adj" fmla="val 2137"/>
            </a:avLst>
          </a:prstGeom>
          <a:solidFill>
            <a:srgbClr val="F0F7F9"/>
          </a:solidFill>
          <a:ln w="12700">
            <a:solidFill>
              <a:srgbClr val="DCEAEE"/>
            </a:solidFill>
            <a:prstDash val="solid"/>
          </a:ln>
          <a:effectLst>
            <a:outerShdw sx="100000" sy="100000" kx="0" ky="0" algn="bl" rotWithShape="0" blurRad="88900" dist="38100" dir="5400000">
              <a:srgbClr val="0E24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868680" cy="86868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94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60120" y="3291840"/>
            <a:ext cx="2691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Outbreaks surface too late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4069080"/>
            <a:ext cx="26913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surveillance (IDSP) aggregates weekly. A dengue cluster building across a block stays invisible for days — exactly the days that matter.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83024" y="1783080"/>
            <a:ext cx="3422904" cy="3931920"/>
          </a:xfrm>
          <a:prstGeom prst="roundRect">
            <a:avLst>
              <a:gd name="adj" fmla="val 2137"/>
            </a:avLst>
          </a:prstGeom>
          <a:solidFill>
            <a:srgbClr val="F0F7F9"/>
          </a:solidFill>
          <a:ln w="12700">
            <a:solidFill>
              <a:srgbClr val="DCEAEE"/>
            </a:solidFill>
            <a:prstDash val="solid"/>
          </a:ln>
          <a:effectLst>
            <a:outerShdw sx="100000" sy="100000" kx="0" ky="0" algn="bl" rotWithShape="0" blurRad="88900" dist="38100" dir="5400000">
              <a:srgbClr val="0E243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48784" y="2194560"/>
            <a:ext cx="868680" cy="86868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4748784" y="2194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48784" y="3291840"/>
            <a:ext cx="2691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Medicines run out here, expire there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48784" y="4069080"/>
            <a:ext cx="26913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centre stocks out of a drug while a neighbour lets the same drug expire on the shelf. Nobody sees both sides in time to act.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71688" y="1783080"/>
            <a:ext cx="3422904" cy="3931920"/>
          </a:xfrm>
          <a:prstGeom prst="roundRect">
            <a:avLst>
              <a:gd name="adj" fmla="val 2137"/>
            </a:avLst>
          </a:prstGeom>
          <a:solidFill>
            <a:srgbClr val="F0F7F9"/>
          </a:solidFill>
          <a:ln w="12700">
            <a:solidFill>
              <a:srgbClr val="DCEAEE"/>
            </a:solidFill>
            <a:prstDash val="solid"/>
          </a:ln>
          <a:effectLst>
            <a:outerShdw sx="100000" sy="100000" kx="0" ky="0" algn="bl" rotWithShape="0" blurRad="88900" dist="38100" dir="5400000">
              <a:srgbClr val="0E243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37448" y="2194560"/>
            <a:ext cx="868680" cy="86868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6" name="Text 14"/>
          <p:cNvSpPr/>
          <p:nvPr/>
        </p:nvSpPr>
        <p:spPr>
          <a:xfrm>
            <a:off x="8537448" y="2194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537448" y="3291840"/>
            <a:ext cx="2691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burden falls on the last mile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37448" y="4069080"/>
            <a:ext cx="26913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digital form lands on a PHC pharmacist who is also seeing patients. So the data arrives late, partial, or not at all.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9436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 Radar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0819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 · Code for Communities — Track 3: Smart Health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5C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828800"/>
            <a:ext cx="3474720" cy="3474720"/>
          </a:xfrm>
          <a:prstGeom prst="ellipse">
            <a:avLst/>
          </a:prstGeom>
          <a:ln w="15875">
            <a:solidFill>
              <a:srgbClr val="5EEAD4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2331720"/>
            <a:ext cx="2468880" cy="2468880"/>
          </a:xfrm>
          <a:prstGeom prst="ellipse">
            <a:avLst/>
          </a:prstGeom>
          <a:ln w="15875">
            <a:solidFill>
              <a:srgbClr val="5EEAD4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788920"/>
            <a:ext cx="1554480" cy="1554480"/>
          </a:xfrm>
          <a:prstGeom prst="ellipse">
            <a:avLst/>
          </a:prstGeom>
          <a:ln w="15875">
            <a:solidFill>
              <a:srgbClr val="5EEAD4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65792" y="3182112"/>
            <a:ext cx="768096" cy="768096"/>
          </a:xfrm>
          <a:prstGeom prst="ellipse">
            <a:avLst/>
          </a:prstGeom>
          <a:ln w="15875">
            <a:solidFill>
              <a:srgbClr val="5EEAD4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67544" y="3483864"/>
            <a:ext cx="164592" cy="164592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7" name="Shape 5"/>
          <p:cNvSpPr/>
          <p:nvPr/>
        </p:nvSpPr>
        <p:spPr>
          <a:xfrm>
            <a:off x="10991088" y="2907792"/>
            <a:ext cx="237744" cy="23774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7955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register already contains next week's outbreak. Nobody is reading it.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594360" y="397764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5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three centres in one block each log a few extra fever-with-rash cases on the same day, that is a dengue signal — days before it becomes an official report. The data is already flowing in. We are the first to read it, every day, automatically.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 Radar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0819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 · Code for Communities — Track 3: Smart Health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app, two sides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088636" cy="3977640"/>
          </a:xfrm>
          <a:prstGeom prst="roundRect">
            <a:avLst>
              <a:gd name="adj" fmla="val 1839"/>
            </a:avLst>
          </a:prstGeom>
          <a:solidFill>
            <a:srgbClr val="F0F7F9"/>
          </a:solidFill>
          <a:ln w="12700">
            <a:solidFill>
              <a:srgbClr val="DCEAEE"/>
            </a:solidFill>
            <a:prstDash val="solid"/>
          </a:ln>
          <a:effectLst>
            <a:outerShdw sx="100000" sy="100000" kx="0" ky="0" algn="bl" rotWithShape="0" blurRad="88900" dist="38100" dir="5400000">
              <a:srgbClr val="0E243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57400"/>
            <a:ext cx="4357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SIDE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4357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the day in 30 seconds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60120" y="2926080"/>
            <a:ext cx="435711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 note in Odia, Hindi or English, or a photo of the paper register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parses it into a structured daily record — footfall, symptoms, stock, expiries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drafts; staff confirm. Uncertain fields are flagged for a human check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792724" y="3566160"/>
            <a:ext cx="603504" cy="60350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9" name="Text 7"/>
          <p:cNvSpPr/>
          <p:nvPr/>
        </p:nvSpPr>
        <p:spPr>
          <a:xfrm>
            <a:off x="5792724" y="35295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505956" y="1783080"/>
            <a:ext cx="5088636" cy="3977640"/>
          </a:xfrm>
          <a:prstGeom prst="roundRect">
            <a:avLst>
              <a:gd name="adj" fmla="val 1839"/>
            </a:avLst>
          </a:prstGeom>
          <a:solidFill>
            <a:srgbClr val="0E2430"/>
          </a:solidFill>
          <a:ln w="12700">
            <a:solidFill>
              <a:srgbClr val="DCEAEE"/>
            </a:solidFill>
            <a:prstDash val="solid"/>
          </a:ln>
          <a:effectLst>
            <a:outerShdw sx="100000" sy="100000" kx="0" ky="0" algn="bl" rotWithShape="0" blurRad="88900" dist="38100" dir="5400000">
              <a:srgbClr val="0E243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71716" y="2057400"/>
            <a:ext cx="4357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SIDE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71716" y="2331720"/>
            <a:ext cx="4357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command centre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871716" y="2880360"/>
            <a:ext cx="435711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Outbreak radar — early warning across the district</a:t>
            </a:r>
            <a:endParaRPr lang="en-US" sz="135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compliance — silent centres flagged as blind spots</a:t>
            </a:r>
            <a:endParaRPr lang="en-US" sz="135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forecasts — who runs out of what, and when</a:t>
            </a:r>
            <a:endParaRPr lang="en-US" sz="135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in rupees + transfers that fix both at once</a:t>
            </a:r>
            <a:endParaRPr lang="en-US" sz="135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one-click weekly brief in plain language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 Radar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0819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 · Code for Communities — Track 3: Smart Health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EXECUTION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where only AI works — auditable everywhere else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088636" cy="3108960"/>
          </a:xfrm>
          <a:prstGeom prst="roundRect">
            <a:avLst>
              <a:gd name="adj" fmla="val 2353"/>
            </a:avLst>
          </a:prstGeom>
          <a:solidFill>
            <a:srgbClr val="F0F7F9"/>
          </a:solidFill>
          <a:ln w="12700">
            <a:solidFill>
              <a:srgbClr val="DCEAEE"/>
            </a:solidFill>
            <a:prstDash val="solid"/>
          </a:ln>
          <a:effectLst>
            <a:outerShdw sx="100000" sy="100000" kx="0" ky="0" algn="bl" rotWithShape="0" blurRad="88900" dist="38100" dir="5400000">
              <a:srgbClr val="0E243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57400"/>
            <a:ext cx="4357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DOES PERCEPTION &amp; LANGUAGE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2468880"/>
            <a:ext cx="435711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messy handwriting off a register photo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code-switched Odia / Hindi / English voice notes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weekly brief in three languages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05956" y="1783080"/>
            <a:ext cx="5088636" cy="3108960"/>
          </a:xfrm>
          <a:prstGeom prst="roundRect">
            <a:avLst>
              <a:gd name="adj" fmla="val 2353"/>
            </a:avLst>
          </a:prstGeom>
          <a:solidFill>
            <a:srgbClr val="F0F7F9"/>
          </a:solidFill>
          <a:ln w="12700">
            <a:solidFill>
              <a:srgbClr val="DCEAEE"/>
            </a:solidFill>
            <a:prstDash val="solid"/>
          </a:ln>
          <a:effectLst>
            <a:outerShdw sx="100000" sy="100000" kx="0" ky="0" algn="bl" rotWithShape="0" blurRad="88900" dist="38100" dir="5400000">
              <a:srgbClr val="0E243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71716" y="2057400"/>
            <a:ext cx="4357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IS CLASSICAL, AUDITABLE STATISTICS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71716" y="2468880"/>
            <a:ext cx="435711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EARS-style aberration detection (CDC / WHO family)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baseline + block-level corroboration — no black box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officer sees exactly why every alert fired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5120640"/>
            <a:ext cx="11000232" cy="685800"/>
          </a:xfrm>
          <a:prstGeom prst="roundRect">
            <a:avLst>
              <a:gd name="adj" fmla="val 8000"/>
            </a:avLst>
          </a:prstGeom>
          <a:solidFill>
            <a:srgbClr val="0E243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512064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principle:  </a:t>
            </a:r>
            <a:pPr algn="ctr" indent="0" marL="0">
              <a:buNone/>
            </a:pPr>
            <a:r>
              <a:rPr lang="en-US" sz="1400" dirty="0">
                <a:solidFill>
                  <a:srgbClr val="E4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sits only where nothing else can do the job. Everything between is honest arithmetic a judge — or a district pharmacist — can check.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 Radar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0819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 · Code for Communities — Track 3: Smart Health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OUTBREAK RADAR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caught Lanjigarh's dengue signal days before the surge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828800"/>
          <a:ext cx="740664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874520"/>
            <a:ext cx="3273552" cy="1051560"/>
          </a:xfrm>
          <a:prstGeom prst="roundRect">
            <a:avLst>
              <a:gd name="adj" fmla="val 6957"/>
            </a:avLst>
          </a:prstGeom>
          <a:solidFill>
            <a:srgbClr val="F0F7F9"/>
          </a:solidFill>
          <a:ln w="12700">
            <a:solidFill>
              <a:srgbClr val="DCEAEE"/>
            </a:solidFill>
            <a:prstDash val="solid"/>
          </a:ln>
          <a:effectLst>
            <a:outerShdw sx="100000" sy="100000" kx="0" ky="0" algn="bl" rotWithShape="0" blurRad="88900" dist="38100" dir="5400000">
              <a:srgbClr val="0E243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95360" y="2002536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 vs ~3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8595360" y="249631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today versus expected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321040" y="3108960"/>
            <a:ext cx="3273552" cy="1051560"/>
          </a:xfrm>
          <a:prstGeom prst="roundRect">
            <a:avLst>
              <a:gd name="adj" fmla="val 6957"/>
            </a:avLst>
          </a:prstGeom>
          <a:solidFill>
            <a:srgbClr val="F0F7F9"/>
          </a:solidFill>
          <a:ln w="12700">
            <a:solidFill>
              <a:srgbClr val="DCEAEE"/>
            </a:solidFill>
            <a:prstDash val="solid"/>
          </a:ln>
          <a:effectLst>
            <a:outerShdw sx="100000" sy="100000" kx="0" ky="0" algn="bl" rotWithShape="0" blurRad="88900" dist="38100" dir="5400000">
              <a:srgbClr val="0E243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595360" y="3236976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16.6σ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8595360" y="373075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centre, above its baseline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321040" y="4343400"/>
            <a:ext cx="3273552" cy="1051560"/>
          </a:xfrm>
          <a:prstGeom prst="roundRect">
            <a:avLst>
              <a:gd name="adj" fmla="val 6957"/>
            </a:avLst>
          </a:prstGeom>
          <a:solidFill>
            <a:srgbClr val="F0F7F9"/>
          </a:solidFill>
          <a:ln w="12700">
            <a:solidFill>
              <a:srgbClr val="DCEAEE"/>
            </a:solidFill>
            <a:prstDash val="solid"/>
          </a:ln>
          <a:effectLst>
            <a:outerShdw sx="100000" sy="100000" kx="0" ky="0" algn="bl" rotWithShape="0" blurRad="88900" dist="38100" dir="5400000">
              <a:srgbClr val="0E243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595360" y="4471416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of 3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8595360" y="496519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centres flagging together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" y="562356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~28 June — before the case count was obvious to anyone on the ground.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436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 Radar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10819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 · Code for Communities — Track 3: Smart Health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SIGNAL TO SUPPLY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reports turn into money saved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4114800" cy="3977640"/>
          </a:xfrm>
          <a:prstGeom prst="roundRect">
            <a:avLst>
              <a:gd name="adj" fmla="val 1839"/>
            </a:avLst>
          </a:prstGeom>
          <a:solidFill>
            <a:srgbClr val="0E2430"/>
          </a:solidFill>
          <a:ln w="12700">
            <a:solidFill>
              <a:srgbClr val="DCEAEE"/>
            </a:solidFill>
            <a:prstDash val="solid"/>
          </a:ln>
          <a:effectLst>
            <a:outerShdw sx="100000" sy="100000" kx="0" ky="0" algn="bl" rotWithShape="0" blurRad="88900" dist="38100" dir="5400000">
              <a:srgbClr val="0E243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4688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₹3.14 lakh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60120" y="342900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E4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medicines will expire unused across the district in the next 120 days — priced at real procurement rates.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166360" y="1783080"/>
            <a:ext cx="6428232" cy="3977640"/>
          </a:xfrm>
          <a:prstGeom prst="roundRect">
            <a:avLst>
              <a:gd name="adj" fmla="val 1839"/>
            </a:avLst>
          </a:prstGeom>
          <a:solidFill>
            <a:srgbClr val="F0F7F9"/>
          </a:solidFill>
          <a:ln w="12700">
            <a:solidFill>
              <a:srgbClr val="DCEAEE"/>
            </a:solidFill>
            <a:prstDash val="solid"/>
          </a:ln>
          <a:effectLst>
            <a:outerShdw sx="100000" sy="100000" kx="0" ky="0" algn="bl" rotWithShape="0" blurRad="88900" dist="38100" dir="5400000">
              <a:srgbClr val="0E243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532120" y="210312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FLAGSHIP RECOMMENDATION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32120" y="2514600"/>
            <a:ext cx="56967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246 dengue NS1 test kits</a:t>
            </a:r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sitting near expiry at SDH Dharamgarh — in the west — are routed </a:t>
            </a:r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km to the outbreak at CHC Lanjigarh</a:t>
            </a:r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east.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532120" y="3977640"/>
            <a:ext cx="5696712" cy="0"/>
          </a:xfrm>
          <a:prstGeom prst="line">
            <a:avLst/>
          </a:prstGeom>
          <a:noFill/>
          <a:ln w="12700">
            <a:solidFill>
              <a:srgbClr val="DCEA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32120" y="4160520"/>
            <a:ext cx="56967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B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move, two wins:  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saves ₹44,280 of stock from the bin and arms the outbreak response at the same time. Expiry prevention and disease response become the same decision.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9436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 Radar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0819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 · Code for Communities — Track 3: Smart Health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WORKING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scribbled register to structured data in seconds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4937760" cy="3977640"/>
          </a:xfrm>
          <a:prstGeom prst="roundRect">
            <a:avLst>
              <a:gd name="adj" fmla="val 1839"/>
            </a:avLst>
          </a:prstGeom>
          <a:solidFill>
            <a:srgbClr val="F0F7F9"/>
          </a:solidFill>
          <a:ln w="12700">
            <a:solidFill>
              <a:srgbClr val="DCEAEE"/>
            </a:solidFill>
            <a:prstDash val="solid"/>
          </a:ln>
          <a:effectLst>
            <a:outerShdw sx="100000" sy="100000" kx="0" ky="0" algn="bl" rotWithShape="0" blurRad="88900" dist="38100" dir="5400000">
              <a:srgbClr val="0E2430">
                <a:alpha val="10000"/>
              </a:srgbClr>
            </a:outerShdw>
          </a:effectLst>
        </p:spPr>
      </p:sp>
      <p:pic>
        <p:nvPicPr>
          <p:cNvPr id="5" name="Image 0" descr="D:/Cloud_Community_Hackathon/public/samples/register-samp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2011680"/>
            <a:ext cx="4389120" cy="3520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06440" y="3566160"/>
            <a:ext cx="548640" cy="54864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7" name="Text 4"/>
          <p:cNvSpPr/>
          <p:nvPr/>
        </p:nvSpPr>
        <p:spPr>
          <a:xfrm>
            <a:off x="5806440" y="35295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537960" y="1783080"/>
            <a:ext cx="5056632" cy="3977640"/>
          </a:xfrm>
          <a:prstGeom prst="roundRect">
            <a:avLst>
              <a:gd name="adj" fmla="val 1839"/>
            </a:avLst>
          </a:prstGeom>
          <a:solidFill>
            <a:srgbClr val="0E2430"/>
          </a:solidFill>
          <a:ln w="12700">
            <a:solidFill>
              <a:srgbClr val="DCEAEE"/>
            </a:solidFill>
            <a:prstDash val="solid"/>
          </a:ln>
          <a:effectLst>
            <a:outerShdw sx="100000" sy="100000" kx="0" ky="0" algn="bl" rotWithShape="0" blurRad="88900" dist="38100" dir="5400000">
              <a:srgbClr val="0E243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903720" y="2057400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PARSES IT LIVE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903720" y="2468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Footfall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372600" y="2468880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903720" y="29535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372600" y="2953512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903720" y="343814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 with rash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9372600" y="3438144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 (kept separate)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903720" y="392277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Diarrhoea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9372600" y="3922776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6903720" y="44074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Paracetamol 500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9372600" y="4407408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tab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903720" y="4892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ORS sachet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9372600" y="4892040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6903720" y="5303520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live with Gemini — referral note captured too.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9436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 Radar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10819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 · Code for Communities — Track 3: Smart Health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PROVENANCE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real public data — and honest about the rest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28800"/>
          <a:ext cx="11000232" cy="914400"/>
        </p:xfrm>
        <a:graphic>
          <a:graphicData uri="http://schemas.openxmlformats.org/drawingml/2006/table">
            <a:tbl>
              <a:tblPr/>
              <a:tblGrid>
                <a:gridCol w="5500116"/>
                <a:gridCol w="5500116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(and why)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43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Kalahandi's real block &amp; facility network (DHH, SDH, block CHCs)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facility-level activity — because it does not exist publicly. Creating it IS the product.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Medicines &amp; prices: NLEM 2022 + Jan Aushadhi rates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seeded dengue outbreak &amp; expiry scenarios, for a reproducible demo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Syndrome categories aligned to IDSP reporting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 PHC names and map coordinates (approximate)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Magnitudes calibrated on HMIS monthly &amp; IDSP weekly data (data.gov.in)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is labelled synthetic in-app — nothing is passed off as real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 Radar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10819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 · Code for Communities — Track 3: Smart Health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DEPLOYABILITY &amp; SCALE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slot into the system that already exists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271516" cy="1828800"/>
          </a:xfrm>
          <a:prstGeom prst="roundRect">
            <a:avLst>
              <a:gd name="adj" fmla="val 4000"/>
            </a:avLst>
          </a:prstGeom>
          <a:solidFill>
            <a:srgbClr val="F0F7F9"/>
          </a:solidFill>
          <a:ln w="12700">
            <a:solidFill>
              <a:srgbClr val="DCEAEE"/>
            </a:solidFill>
            <a:prstDash val="solid"/>
          </a:ln>
          <a:effectLst>
            <a:outerShdw sx="100000" sy="100000" kx="0" ky="0" algn="bl" rotWithShape="0" blurRad="88900" dist="38100" dir="5400000">
              <a:srgbClr val="0E24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2286000"/>
            <a:ext cx="182880" cy="182880"/>
          </a:xfrm>
          <a:prstGeom prst="ellipse">
            <a:avLst/>
          </a:prstGeom>
          <a:solidFill>
            <a:srgbClr val="0B5C73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2121408"/>
            <a:ext cx="39913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Google Cloud Run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46314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 and deployed today — judges click a URL, not a video. Firebase/Firestore is the next step for durable storage.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23076" y="1828800"/>
            <a:ext cx="5271516" cy="1828800"/>
          </a:xfrm>
          <a:prstGeom prst="roundRect">
            <a:avLst>
              <a:gd name="adj" fmla="val 4000"/>
            </a:avLst>
          </a:prstGeom>
          <a:solidFill>
            <a:srgbClr val="F0F7F9"/>
          </a:solidFill>
          <a:ln w="12700">
            <a:solidFill>
              <a:srgbClr val="DCEAEE"/>
            </a:solidFill>
            <a:prstDash val="solid"/>
          </a:ln>
          <a:effectLst>
            <a:outerShdw sx="100000" sy="100000" kx="0" ky="0" algn="bl" rotWithShape="0" blurRad="88900" dist="38100" dir="5400000">
              <a:srgbClr val="0E243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43116" y="2148840"/>
            <a:ext cx="457200" cy="45720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1" name="Shape 9"/>
          <p:cNvSpPr/>
          <p:nvPr/>
        </p:nvSpPr>
        <p:spPr>
          <a:xfrm>
            <a:off x="6780276" y="2286000"/>
            <a:ext cx="182880" cy="182880"/>
          </a:xfrm>
          <a:prstGeom prst="ellipse">
            <a:avLst/>
          </a:prstGeom>
          <a:solidFill>
            <a:srgbClr val="0B5C73"/>
          </a:solidFill>
          <a:ln/>
        </p:spPr>
      </p:sp>
      <p:sp>
        <p:nvSpPr>
          <p:cNvPr id="12" name="Text 10"/>
          <p:cNvSpPr/>
          <p:nvPr/>
        </p:nvSpPr>
        <p:spPr>
          <a:xfrm>
            <a:off x="7283196" y="2121408"/>
            <a:ext cx="39913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today's reality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643116" y="2697480"/>
            <a:ext cx="46314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hardware, no new habits: a voice note or a photo of the register the staff already keep.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3977640"/>
            <a:ext cx="5271516" cy="1828800"/>
          </a:xfrm>
          <a:prstGeom prst="roundRect">
            <a:avLst>
              <a:gd name="adj" fmla="val 4000"/>
            </a:avLst>
          </a:prstGeom>
          <a:solidFill>
            <a:srgbClr val="F0F7F9"/>
          </a:solidFill>
          <a:ln w="12700">
            <a:solidFill>
              <a:srgbClr val="DCEAEE"/>
            </a:solidFill>
            <a:prstDash val="solid"/>
          </a:ln>
          <a:effectLst>
            <a:outerShdw sx="100000" sy="100000" kx="0" ky="0" algn="bl" rotWithShape="0" blurRad="88900" dist="38100" dir="5400000">
              <a:srgbClr val="0E243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4434840"/>
            <a:ext cx="182880" cy="182880"/>
          </a:xfrm>
          <a:prstGeom prst="ellipse">
            <a:avLst/>
          </a:prstGeom>
          <a:solidFill>
            <a:srgbClr val="0B5C73"/>
          </a:solidFill>
          <a:ln/>
        </p:spPr>
      </p:sp>
      <p:sp>
        <p:nvSpPr>
          <p:cNvPr id="17" name="Text 15"/>
          <p:cNvSpPr/>
          <p:nvPr/>
        </p:nvSpPr>
        <p:spPr>
          <a:xfrm>
            <a:off x="1554480" y="4270248"/>
            <a:ext cx="39913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the government's schema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14400" y="4846320"/>
            <a:ext cx="46314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map onto IDSP syndrome categories, so this plugs into the workflow the state already runs — it removes the paper and the week of lag.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23076" y="3977640"/>
            <a:ext cx="5271516" cy="1828800"/>
          </a:xfrm>
          <a:prstGeom prst="roundRect">
            <a:avLst>
              <a:gd name="adj" fmla="val 4000"/>
            </a:avLst>
          </a:prstGeom>
          <a:solidFill>
            <a:srgbClr val="F0F7F9"/>
          </a:solidFill>
          <a:ln w="12700">
            <a:solidFill>
              <a:srgbClr val="DCEAEE"/>
            </a:solidFill>
            <a:prstDash val="solid"/>
          </a:ln>
          <a:effectLst>
            <a:outerShdw sx="100000" sy="100000" kx="0" ky="0" algn="bl" rotWithShape="0" blurRad="88900" dist="38100" dir="5400000">
              <a:srgbClr val="0E243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43116" y="4297680"/>
            <a:ext cx="457200" cy="45720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1" name="Shape 19"/>
          <p:cNvSpPr/>
          <p:nvPr/>
        </p:nvSpPr>
        <p:spPr>
          <a:xfrm>
            <a:off x="6780276" y="4434840"/>
            <a:ext cx="182880" cy="182880"/>
          </a:xfrm>
          <a:prstGeom prst="ellipse">
            <a:avLst/>
          </a:prstGeom>
          <a:solidFill>
            <a:srgbClr val="0B5C73"/>
          </a:solidFill>
          <a:ln/>
        </p:spPr>
      </p:sp>
      <p:sp>
        <p:nvSpPr>
          <p:cNvPr id="22" name="Text 20"/>
          <p:cNvSpPr/>
          <p:nvPr/>
        </p:nvSpPr>
        <p:spPr>
          <a:xfrm>
            <a:off x="7283196" y="4270248"/>
            <a:ext cx="39913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today, state tomorrow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643116" y="4846320"/>
            <a:ext cx="46314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pipeline scales from 36 facilities to a whole state; cross-district analytics land in BigQuery.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4360" y="5943600"/>
            <a:ext cx="11000232" cy="502920"/>
          </a:xfrm>
          <a:prstGeom prst="roundRect">
            <a:avLst>
              <a:gd name="adj" fmla="val 10909"/>
            </a:avLst>
          </a:prstGeom>
          <a:solidFill>
            <a:srgbClr val="0E2430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9436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Google Cloud:  </a:t>
            </a:r>
            <a:pPr algn="ctr" indent="0" marL="0">
              <a:buNone/>
            </a:pPr>
            <a:r>
              <a:rPr lang="en-US" sz="1300" dirty="0">
                <a:solidFill>
                  <a:srgbClr val="E4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(Pro for intake, Flash for briefs) · Cloud Run · roadmap: Firestore, BigQuery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 Radar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0819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 · Code for Communities — Track 3: Smart Health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INCLUSIVITY &amp; ACCESSIBILITY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for who actually uses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2510028" cy="3794760"/>
          </a:xfrm>
          <a:prstGeom prst="roundRect">
            <a:avLst>
              <a:gd name="adj" fmla="val 2914"/>
            </a:avLst>
          </a:prstGeom>
          <a:solidFill>
            <a:srgbClr val="F0F7F9"/>
          </a:solidFill>
          <a:ln w="12700">
            <a:solidFill>
              <a:srgbClr val="DCEAEE"/>
            </a:solidFill>
            <a:prstDash val="solid"/>
          </a:ln>
          <a:effectLst>
            <a:outerShdw sx="100000" sy="100000" kx="0" ky="0" algn="bl" rotWithShape="0" blurRad="88900" dist="38100" dir="5400000">
              <a:srgbClr val="0E24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1961388" cy="640080"/>
          </a:xfrm>
          <a:prstGeom prst="roundRect">
            <a:avLst>
              <a:gd name="adj" fmla="val 8571"/>
            </a:avLst>
          </a:prstGeom>
          <a:solidFill>
            <a:srgbClr val="F0F7F9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19613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ଓଡ଼ିଆ · हिन्दी · 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19613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languages, by voice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3703320"/>
            <a:ext cx="19613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by speaking in Odia, Hindi or English — the way a health worker actually talks, code-switching and all.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24428" y="1828800"/>
            <a:ext cx="2510028" cy="3794760"/>
          </a:xfrm>
          <a:prstGeom prst="roundRect">
            <a:avLst>
              <a:gd name="adj" fmla="val 2914"/>
            </a:avLst>
          </a:prstGeom>
          <a:solidFill>
            <a:srgbClr val="F0F7F9"/>
          </a:solidFill>
          <a:ln w="12700">
            <a:solidFill>
              <a:srgbClr val="DCEAEE"/>
            </a:solidFill>
            <a:prstDash val="solid"/>
          </a:ln>
          <a:effectLst>
            <a:outerShdw sx="100000" sy="100000" kx="0" ky="0" algn="bl" rotWithShape="0" blurRad="88900" dist="38100" dir="5400000">
              <a:srgbClr val="0E243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98748" y="2148840"/>
            <a:ext cx="1961388" cy="640080"/>
          </a:xfrm>
          <a:prstGeom prst="roundRect">
            <a:avLst>
              <a:gd name="adj" fmla="val 8571"/>
            </a:avLst>
          </a:prstGeom>
          <a:solidFill>
            <a:srgbClr val="F0F7F9"/>
          </a:solidFill>
          <a:ln/>
        </p:spPr>
      </p:sp>
      <p:sp>
        <p:nvSpPr>
          <p:cNvPr id="11" name="Text 9"/>
          <p:cNvSpPr/>
          <p:nvPr/>
        </p:nvSpPr>
        <p:spPr>
          <a:xfrm>
            <a:off x="3698748" y="2148840"/>
            <a:ext cx="19613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Paper-first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98748" y="2971800"/>
            <a:ext cx="19613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from a photo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698748" y="3703320"/>
            <a:ext cx="19613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smartphone form to learn. Snap the register page that already gets filled in by hand.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54496" y="1828800"/>
            <a:ext cx="2510028" cy="3794760"/>
          </a:xfrm>
          <a:prstGeom prst="roundRect">
            <a:avLst>
              <a:gd name="adj" fmla="val 2914"/>
            </a:avLst>
          </a:prstGeom>
          <a:solidFill>
            <a:srgbClr val="F0F7F9"/>
          </a:solidFill>
          <a:ln w="12700">
            <a:solidFill>
              <a:srgbClr val="DCEAEE"/>
            </a:solidFill>
            <a:prstDash val="solid"/>
          </a:ln>
          <a:effectLst>
            <a:outerShdw sx="100000" sy="100000" kx="0" ky="0" algn="bl" rotWithShape="0" blurRad="88900" dist="38100" dir="5400000">
              <a:srgbClr val="0E243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28816" y="2148840"/>
            <a:ext cx="1961388" cy="640080"/>
          </a:xfrm>
          <a:prstGeom prst="roundRect">
            <a:avLst>
              <a:gd name="adj" fmla="val 8571"/>
            </a:avLst>
          </a:prstGeom>
          <a:solidFill>
            <a:srgbClr val="F0F7F9"/>
          </a:solidFill>
          <a:ln/>
        </p:spPr>
      </p:sp>
      <p:sp>
        <p:nvSpPr>
          <p:cNvPr id="16" name="Text 14"/>
          <p:cNvSpPr/>
          <p:nvPr/>
        </p:nvSpPr>
        <p:spPr>
          <a:xfrm>
            <a:off x="6528816" y="2148840"/>
            <a:ext cx="19613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Low-bandwidth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28816" y="2971800"/>
            <a:ext cx="19613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weak networks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528816" y="3703320"/>
            <a:ext cx="19613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voice note or one photo — not a heavy app — reaches the district even on a rural connection.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84564" y="1828800"/>
            <a:ext cx="2510028" cy="3794760"/>
          </a:xfrm>
          <a:prstGeom prst="roundRect">
            <a:avLst>
              <a:gd name="adj" fmla="val 2914"/>
            </a:avLst>
          </a:prstGeom>
          <a:solidFill>
            <a:srgbClr val="F0F7F9"/>
          </a:solidFill>
          <a:ln w="12700">
            <a:solidFill>
              <a:srgbClr val="DCEAEE"/>
            </a:solidFill>
            <a:prstDash val="solid"/>
          </a:ln>
          <a:effectLst>
            <a:outerShdw sx="100000" sy="100000" kx="0" ky="0" algn="bl" rotWithShape="0" blurRad="88900" dist="38100" dir="5400000">
              <a:srgbClr val="0E243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58884" y="2148840"/>
            <a:ext cx="1961388" cy="640080"/>
          </a:xfrm>
          <a:prstGeom prst="roundRect">
            <a:avLst>
              <a:gd name="adj" fmla="val 8571"/>
            </a:avLst>
          </a:prstGeom>
          <a:solidFill>
            <a:srgbClr val="F0F7F9"/>
          </a:solidFill>
          <a:ln/>
        </p:spPr>
      </p:sp>
      <p:sp>
        <p:nvSpPr>
          <p:cNvPr id="21" name="Text 19"/>
          <p:cNvSpPr/>
          <p:nvPr/>
        </p:nvSpPr>
        <p:spPr>
          <a:xfrm>
            <a:off x="9358884" y="2148840"/>
            <a:ext cx="19613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work, not more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58884" y="2971800"/>
            <a:ext cx="19613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2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Respects the last mile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358884" y="3703320"/>
            <a:ext cx="19613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overlooked PHC pharmacist gets 30 seconds of speaking, not another form to type.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9436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 Radar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0819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 · Code for Communities — Track 3: Smart Health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2011680"/>
            <a:ext cx="3474720" cy="3474720"/>
          </a:xfrm>
          <a:prstGeom prst="ellipse">
            <a:avLst/>
          </a:prstGeom>
          <a:ln w="15875">
            <a:solidFill>
              <a:srgbClr val="5EEAD4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06840" y="2514600"/>
            <a:ext cx="2468880" cy="2468880"/>
          </a:xfrm>
          <a:prstGeom prst="ellipse">
            <a:avLst/>
          </a:prstGeom>
          <a:ln w="15875">
            <a:solidFill>
              <a:srgbClr val="5EEAD4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64040" y="2971800"/>
            <a:ext cx="1554480" cy="1554480"/>
          </a:xfrm>
          <a:prstGeom prst="ellipse">
            <a:avLst/>
          </a:prstGeom>
          <a:ln w="15875">
            <a:solidFill>
              <a:srgbClr val="5EEAD4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57232" y="3364992"/>
            <a:ext cx="768096" cy="768096"/>
          </a:xfrm>
          <a:prstGeom prst="ellipse">
            <a:avLst/>
          </a:prstGeom>
          <a:ln w="15875">
            <a:solidFill>
              <a:srgbClr val="5EEAD4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58984" y="3666744"/>
            <a:ext cx="164592" cy="164592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7" name="Shape 5"/>
          <p:cNvSpPr/>
          <p:nvPr/>
        </p:nvSpPr>
        <p:spPr>
          <a:xfrm>
            <a:off x="11082528" y="3090672"/>
            <a:ext cx="237744" cy="23774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PILOT IN KALAHANDI DELIVERS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1828800"/>
            <a:ext cx="201168" cy="201168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783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Earlier response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21671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Outbreaks caught days sooner, while the case count is still small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2880360"/>
            <a:ext cx="201168" cy="201168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834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waste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321868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Medicines redistributed before they expire — lakhs saved each quarter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3931920"/>
            <a:ext cx="201168" cy="201168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886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district in view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05840" y="427024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officer sees every centre each morning, in plain language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" y="5120640"/>
            <a:ext cx="7498080" cy="0"/>
          </a:xfrm>
          <a:prstGeom prst="line">
            <a:avLst/>
          </a:prstGeom>
          <a:noFill/>
          <a:ln w="12700">
            <a:solidFill>
              <a:srgbClr val="2440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523036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 </a:t>
            </a:r>
            <a:pPr indent="0" marL="0">
              <a:buNone/>
            </a:pPr>
            <a:r>
              <a:rPr lang="en-US" sz="1250" dirty="0">
                <a:solidFill>
                  <a:srgbClr val="9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· WhatsApp intake · BigQuery cross-district · IDSP / e-Aushadhi export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94360" y="55961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 </a:t>
            </a:r>
            <a:pPr indent="0" marL="0">
              <a:buNone/>
            </a:pPr>
            <a:r>
              <a:rPr lang="en-US" sz="12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arogya-radar-767054106508.asia-south1.run.app</a:t>
            </a:r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Repo:  </a:t>
            </a:r>
            <a:pPr indent="0" marL="0">
              <a:buNone/>
            </a:pPr>
            <a:r>
              <a:rPr lang="en-US" sz="12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github.com/PureGenius369/arogya-radar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598017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 Sutaria · mannsutaria2605@gmail.com     </a:t>
            </a:r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 Radar — the district's registers, finally read.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 Radar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0819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 · Code for Communities — Track 3: Smart Health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Arogya Radar — Kalahandi District Health Command Centre</dc:title>
  <dc:subject>PptxGenJS Presentation</dc:subject>
  <dc:creator>Mann Sutaria</dc:creator>
  <cp:lastModifiedBy>Mann Sutaria</cp:lastModifiedBy>
  <cp:revision>1</cp:revision>
  <dcterms:created xsi:type="dcterms:W3CDTF">2026-07-04T12:38:36Z</dcterms:created>
  <dcterms:modified xsi:type="dcterms:W3CDTF">2026-07-04T12:38:36Z</dcterms:modified>
</cp:coreProperties>
</file>